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6858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Gurgaon Real Estate</a:t>
            </a:r>
            <a:br/>
            <a:r>
              <a:t>Price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CE4EE"/>
                </a:solidFill>
                <a:latin typeface="Arial"/>
              </a:rPr>
              <a:t>Machine Learning Regression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D8E2B"/>
                </a:solidFill>
                <a:latin typeface="Arial"/>
              </a:rPr>
              <a:t>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Naviotech Solution Pvt.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Project Type: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Prepared by: Rishabh Gaur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983480"/>
            <a:ext cx="2011680" cy="36576"/>
          </a:xfrm>
          <a:prstGeom prst="rect">
            <a:avLst/>
          </a:prstGeom>
          <a:solidFill>
            <a:srgbClr val="DD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73152" cy="18288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9903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What I worked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2880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The project is about predicting residential property prices in Gurgaon using regression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3035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73152" cy="1828800"/>
          </a:xfrm>
          <a:prstGeom prst="rect">
            <a:avLst/>
          </a:prstGeom>
          <a:solidFill>
            <a:srgbClr val="DD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9903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DD8E2B"/>
                </a:solidFill>
                <a:latin typeface="Arial"/>
              </a:rPr>
              <a:t>Main input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2880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Location/sector, area, BHK, bathrooms, balconies, furnishing status, property type and other available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53035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73152" cy="18288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59359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Overall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0233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Data → Cleaning → EDA → Feature preparation → Model training → Evaluation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3035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73152" cy="1828800"/>
          </a:xfrm>
          <a:prstGeom prst="rect">
            <a:avLst/>
          </a:prstGeom>
          <a:solidFill>
            <a:srgbClr val="DD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59359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DD8E2B"/>
                </a:solidFill>
                <a:latin typeface="Arial"/>
              </a:rPr>
              <a:t>Project deliverables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233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Notebook/code, model results, project report, PowerPoint presentation and GitHub repository.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E375A"/>
                </a:solidFill>
                <a:latin typeface="Arial"/>
              </a:rPr>
              <a:t>Gurgaon property prices are not the same everywhere. They change with location, property size and other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23160"/>
            <a:ext cx="10424160" cy="192024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23160"/>
            <a:ext cx="73152" cy="192024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877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0175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Manual estimation can be inconsistent. The aim is to build a regression model that learns from property data and gives an estimated price for a new property.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Arial"/>
              </a:rPr>
              <a:t>The model should be tested on unseen data so that its performance is measured fairly.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10424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Understand the real-estate dataset and its columns.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Clean missing, duplicate and inconsistent records.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Explore how property features are related to price.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Prepare numerical and categorical features for modelling.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Train Linear Regression, Decision Tree and Random Forest models.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Compare the models using MAE, RMSE and R².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Select the better-performing model using test results.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Keep the complete work documented in GitHub.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Dataset &amp;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38328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73152" cy="1371600"/>
          </a:xfrm>
          <a:prstGeom prst="rect">
            <a:avLst/>
          </a:prstGeom>
          <a:solidFill>
            <a:srgbClr val="DD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99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DD8E2B"/>
                </a:solidFill>
                <a:latin typeface="Arial"/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28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Property price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38328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73152" cy="13716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99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Numerical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28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Area, BHK, bathrooms, balconies and other numeric fields available in the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38328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73152" cy="13716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399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Categorical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828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Sector/locality, property type, furnishing status, floor information and other categories.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63240"/>
            <a:ext cx="1088136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063240"/>
            <a:ext cx="73152" cy="2011680"/>
          </a:xfrm>
          <a:prstGeom prst="rect">
            <a:avLst/>
          </a:prstGeom>
          <a:solidFill>
            <a:srgbClr val="DD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2278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DD8E2B"/>
                </a:solidFill>
                <a:latin typeface="Arial"/>
              </a:rPr>
              <a:t>Data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Text-formatted prices and areas need to be converted into consistent numeric values. Missing values and inconsistent labels should also be handled.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46C"/>
                </a:solidFill>
                <a:latin typeface="Arial"/>
              </a:rPr>
              <a:t>The exact row count, column count and dataset source should be recorded from the actual dataset used.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Checked data types and missing values.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Checked duplicate records and inconsistent entries.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Converted textual price/area values into numeric form where required.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Handled missing values using feature-appropriate rules.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Checked unusual or extreme observations.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Encoded categorical variables so that they can be used by the regression models.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• Split the prepared data into training and testing 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7472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73152" cy="169164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990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Price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2880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Look at the spread of property prices and identify whether the target is skewed.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7472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1691640"/>
          </a:xfrm>
          <a:prstGeom prst="rect">
            <a:avLst/>
          </a:prstGeom>
          <a:solidFill>
            <a:srgbClr val="DD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990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DD8E2B"/>
                </a:solidFill>
                <a:latin typeface="Arial"/>
              </a:rPr>
              <a:t>Area vs.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2880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Check whether larger properties generally have higher prices.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34440"/>
            <a:ext cx="347472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73152" cy="169164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3990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BHK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2880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Compare property prices across different BHK categories.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37560"/>
            <a:ext cx="347472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337560"/>
            <a:ext cx="73152" cy="1691640"/>
          </a:xfrm>
          <a:prstGeom prst="rect">
            <a:avLst/>
          </a:prstGeom>
          <a:solidFill>
            <a:srgbClr val="DD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5021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DD8E2B"/>
                </a:solidFill>
                <a:latin typeface="Arial"/>
              </a:rPr>
              <a:t>Location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93192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Compare price differences between Gurgaon sectors/localities.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337560"/>
            <a:ext cx="347472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337560"/>
            <a:ext cx="73152" cy="169164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5021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Correlation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93192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Check relationships among numerical variables.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337560"/>
            <a:ext cx="347472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337560"/>
            <a:ext cx="73152" cy="1691640"/>
          </a:xfrm>
          <a:prstGeom prst="rect">
            <a:avLst/>
          </a:prstGeom>
          <a:solidFill>
            <a:srgbClr val="DD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5021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DD8E2B"/>
                </a:solidFill>
                <a:latin typeface="Arial"/>
              </a:rPr>
              <a:t>Outliers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93192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Identify unusually high or low observations that may affect the model.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Regression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41148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1. Linear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Used as a simple baseline. It works by estimating a linear relationship between the input features and 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4114800"/>
          </a:xfrm>
          <a:prstGeom prst="rect">
            <a:avLst/>
          </a:prstGeom>
          <a:solidFill>
            <a:srgbClr val="DD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DD8E2B"/>
                </a:solidFill>
                <a:latin typeface="Arial"/>
              </a:rPr>
              <a:t>2. Decision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2024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Can capture nonlinear relationships between property features. Very deep trees can overfit, so settings need to be controlled.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74720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41148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3. 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2024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Uses a group of decision trees and can handle more complex patterns in tabular real-estate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5603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Average absolute difference between actual and predicted price. Lower is better.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25603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325880"/>
            <a:ext cx="73152" cy="1828800"/>
          </a:xfrm>
          <a:prstGeom prst="rect">
            <a:avLst/>
          </a:prstGeom>
          <a:solidFill>
            <a:srgbClr val="DD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490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DD8E2B"/>
                </a:solidFill>
                <a:latin typeface="Arial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920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Measures prediction error and gives more weight to larger mistakes. Lower is better.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25603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18288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490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920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Shows how much of the variation in price is explained by the model. Higher is generally better.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325880"/>
            <a:ext cx="25603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325880"/>
            <a:ext cx="73152" cy="1828800"/>
          </a:xfrm>
          <a:prstGeom prst="rect">
            <a:avLst/>
          </a:prstGeom>
          <a:solidFill>
            <a:srgbClr val="DD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490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DD8E2B"/>
                </a:solidFill>
                <a:latin typeface="Arial"/>
              </a:rPr>
              <a:t>Model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920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The final model should be selected using the actual test results from the executed notebook.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77639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375A"/>
                </a:solidFill>
                <a:latin typeface="Arial"/>
              </a:rPr>
              <a:t>Results should be reported from the real run of the notebook rather than entered manually.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E375A"/>
                </a:solidFill>
                <a:latin typeface="Arial"/>
              </a:rPr>
              <a:t>Model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28800"/>
          <a:ext cx="10424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2377440"/>
                <a:gridCol w="2377440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3769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MAE</a:t>
                      </a:r>
                    </a:p>
                  </a:txBody>
                  <a:tcPr>
                    <a:solidFill>
                      <a:srgbClr val="3769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RMSE</a:t>
                      </a:r>
                    </a:p>
                  </a:txBody>
                  <a:tcPr>
                    <a:solidFill>
                      <a:srgbClr val="3769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R²</a:t>
                      </a:r>
                    </a:p>
                  </a:txBody>
                  <a:tcPr>
                    <a:solidFill>
                      <a:srgbClr val="3769A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</a:rPr>
                        <a:t>From notebook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</a:rPr>
                        <a:t>From notebook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</a:rPr>
                        <a:t>From notebook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</a:rPr>
                        <a:t>Decision Tree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</a:rPr>
                        <a:t>From notebook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</a:rPr>
                        <a:t>From notebook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</a:rPr>
                        <a:t>From notebook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</a:rPr>
                        <a:t>From notebook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</a:rPr>
                        <a:t>From notebook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</a:rPr>
                        <a:t>From notebook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84632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F646C"/>
                </a:solidFill>
                <a:latin typeface="Arial"/>
              </a:rPr>
              <a:t>I have not inserted made-up scores. Replace the three “From notebook” entries with the values produced by your actual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Key Findings to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• Whether area has a clear relationship with property price.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• Which Gurgaon sectors/localities have higher or lower typical prices in the dataset.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• Whether BHK and bathrooms improve prediction after accounting for other features.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• Which model gives the lowest error and strongest R² on the test data.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• Which features are most useful for the final model.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• Any outliers or data-quality issues found during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F646C"/>
                </a:solidFill>
                <a:latin typeface="Arial"/>
              </a:rPr>
              <a:t>These points should be filled using observations from the actual dataset and notebook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303520" cy="310896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73152" cy="3108960"/>
          </a:xfrm>
          <a:prstGeom prst="rect">
            <a:avLst/>
          </a:prstGeom>
          <a:solidFill>
            <a:srgbClr val="DD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44751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DD8E2B"/>
                </a:solidFill>
                <a:latin typeface="Arial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74519"/>
            <a:ext cx="4937759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Listing price may differ from transaction price. Historical data may not represent current market conditions. Some property details may be missing or inconsistent.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310896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310896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44751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74519"/>
            <a:ext cx="4937759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Add location-based/geospatial features, historical market data, boosting models, explainability and a simple web interface for prediction.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274320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27432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769AA"/>
                </a:solidFill>
                <a:latin typeface="Arial"/>
              </a:rPr>
              <a:t>What the project demonstrates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103327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A complete regression workflow can be used to estimate residential property prices in Gurgaon. The project covers data preparation, EDA, feature engineering, model training and evaluation.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375A"/>
                </a:solidFill>
                <a:latin typeface="Arial"/>
              </a:rPr>
              <a:t>The final conclusion should mention the best model and its actual performance after the notebook has been executed.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GitHub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325880"/>
            <a:ext cx="1005840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9326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gurgaon-real-estate-regression/</a:t>
            </a:r>
            <a:br/>
            <a:r>
              <a:t>│</a:t>
            </a:r>
            <a:br/>
            <a:r>
              <a:t>├── Gurgaon_Real_Estate_Regression.ipynb</a:t>
            </a:r>
            <a:br/>
            <a:r>
              <a:t>├── model_results.csv</a:t>
            </a:r>
            <a:br/>
            <a:r>
              <a:t>├── Gurgaon_Real_Estate_Project_Report.docx</a:t>
            </a:r>
            <a:br/>
            <a:r>
              <a:t>├── Gurgaon_Real_Estate_Project_Presentation.pptx</a:t>
            </a:r>
            <a:br/>
            <a:r>
              <a:t>├── requirements.txt</a:t>
            </a:r>
            <a:br/>
            <a:r>
              <a:t>└──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75A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46C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• Scikit-learn documentation for regression, preprocessing and evaluation.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• Pandas and NumPy documentation for data handling.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• Matplotlib and Seaborn documentation for visualization.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• The exact real-estate dataset source used in the notebook.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46C"/>
                </a:solidFill>
                <a:latin typeface="Arial"/>
              </a:rPr>
              <a:t>Gurgaon Real Estate Price Prediction | Internship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CE4EE"/>
                </a:solidFill>
                <a:latin typeface="Arial"/>
              </a:rPr>
              <a:t>Gurgaon Real Estate Price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Internship Project – Naviotech Solution Pvt.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