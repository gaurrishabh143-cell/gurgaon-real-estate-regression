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Gurgaon Real Estate Price Prediction</a:t>
            </a:r>
          </a:p>
          <a:p>
            <a:pPr>
              <a:defRPr sz="2400"/>
            </a:pPr>
            <a:r>
              <a:t>Machine Learning Regression Project</a:t>
            </a:r>
          </a:p>
          <a:p>
            <a:pPr>
              <a:defRPr sz="1800"/>
            </a:pPr>
            <a:r>
              <a:t>Internship Project • Naviotech Solution Pvt.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Goal: predict residential property prices in Gurgaon using regression.</a:t>
            </a:r>
          </a:p>
          <a:p>
            <a:pPr>
              <a:spcAft>
                <a:spcPts val="1200"/>
              </a:spcAft>
              <a:defRPr sz="2000"/>
            </a:pPr>
            <a:r>
              <a:t>Input examples: locality/sector, area, BHK, bathrooms, furnishing and property type.</a:t>
            </a:r>
          </a:p>
          <a:p>
            <a:pPr>
              <a:spcAft>
                <a:spcPts val="1200"/>
              </a:spcAft>
              <a:defRPr sz="2000"/>
            </a:pPr>
            <a:r>
              <a:t>Workflow: data → cleaning → EDA → feature engineering → models → evaluation.</a:t>
            </a:r>
          </a:p>
          <a:p>
            <a:pPr>
              <a:spcAft>
                <a:spcPts val="1200"/>
              </a:spcAft>
              <a:defRPr sz="2000"/>
            </a:pPr>
            <a:r>
              <a:t>Deliverables: report, notebook/code, presentation and GitHub repository.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Gurgaon property prices vary significantly across locations and property characteristics.</a:t>
            </a:r>
          </a:p>
          <a:p>
            <a:pPr>
              <a:spcAft>
                <a:spcPts val="1200"/>
              </a:spcAft>
              <a:defRPr sz="2000"/>
            </a:pPr>
            <a:r>
              <a:t>Manual price estimation can be inconsistent and difficult to scale.</a:t>
            </a:r>
          </a:p>
          <a:p>
            <a:pPr>
              <a:spcAft>
                <a:spcPts val="1200"/>
              </a:spcAft>
              <a:defRPr sz="2000"/>
            </a:pPr>
            <a:r>
              <a:t>A regression model can learn relationships from historical listings and estimate prices for new properties.</a:t>
            </a:r>
          </a:p>
          <a:p>
            <a:pPr>
              <a:spcAft>
                <a:spcPts val="1200"/>
              </a:spcAft>
              <a:defRPr sz="2000"/>
            </a:pPr>
            <a:r>
              <a:t>The model must be evaluated on unseen data to measure generalization.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Prepare a clean and analysis-ready real-estate dataset.</a:t>
            </a:r>
          </a:p>
          <a:p>
            <a:pPr>
              <a:spcAft>
                <a:spcPts val="1200"/>
              </a:spcAft>
              <a:defRPr sz="2000"/>
            </a:pPr>
            <a:r>
              <a:t>Explore relationships between property attributes and price.</a:t>
            </a:r>
          </a:p>
          <a:p>
            <a:pPr>
              <a:spcAft>
                <a:spcPts val="1200"/>
              </a:spcAft>
              <a:defRPr sz="2000"/>
            </a:pPr>
            <a:r>
              <a:t>Build baseline and nonlinear regression models.</a:t>
            </a:r>
          </a:p>
          <a:p>
            <a:pPr>
              <a:spcAft>
                <a:spcPts val="1200"/>
              </a:spcAft>
              <a:defRPr sz="2000"/>
            </a:pPr>
            <a:r>
              <a:t>Compare models using MAE, RMSE and R².</a:t>
            </a:r>
          </a:p>
          <a:p>
            <a:pPr>
              <a:spcAft>
                <a:spcPts val="1200"/>
              </a:spcAft>
              <a:defRPr sz="2000"/>
            </a:pPr>
            <a:r>
              <a:t>Document a reproducible solution suitable for GitHub.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Dataset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Target: property price.</a:t>
            </a:r>
          </a:p>
          <a:p>
            <a:pPr>
              <a:spcAft>
                <a:spcPts val="1200"/>
              </a:spcAft>
              <a:defRPr sz="2000"/>
            </a:pPr>
            <a:r>
              <a:t>Numerical features: area, BHK, bathrooms, balconies and other available numeric attributes.</a:t>
            </a:r>
          </a:p>
          <a:p>
            <a:pPr>
              <a:spcAft>
                <a:spcPts val="1200"/>
              </a:spcAft>
              <a:defRPr sz="2000"/>
            </a:pPr>
            <a:r>
              <a:t>Categorical features: sector/locality, property type, furnishing status and floor information.</a:t>
            </a:r>
          </a:p>
          <a:p>
            <a:pPr>
              <a:spcAft>
                <a:spcPts val="1200"/>
              </a:spcAft>
              <a:defRPr sz="2000"/>
            </a:pPr>
            <a:r>
              <a:t>Important: record the exact dataset source, number of rows and columns in the executed notebook.</a:t>
            </a:r>
          </a:p>
          <a:p>
            <a:pPr>
              <a:spcAft>
                <a:spcPts val="1200"/>
              </a:spcAft>
              <a:defRPr sz="2000"/>
            </a:pPr>
            <a:r>
              <a:t>The assignment did not provide a dataset, so final numerical results must be generated from the selected dataset.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Data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Inspect data types, missing values and duplicate records.</a:t>
            </a:r>
          </a:p>
          <a:p>
            <a:pPr>
              <a:spcAft>
                <a:spcPts val="1200"/>
              </a:spcAft>
              <a:defRPr sz="2000"/>
            </a:pPr>
            <a:r>
              <a:t>Convert textual prices and areas into numeric values.</a:t>
            </a:r>
          </a:p>
          <a:p>
            <a:pPr>
              <a:spcAft>
                <a:spcPts val="1200"/>
              </a:spcAft>
              <a:defRPr sz="2000"/>
            </a:pPr>
            <a:r>
              <a:t>Standardize inconsistent category labels.</a:t>
            </a:r>
          </a:p>
          <a:p>
            <a:pPr>
              <a:spcAft>
                <a:spcPts val="1200"/>
              </a:spcAft>
              <a:defRPr sz="2000"/>
            </a:pPr>
            <a:r>
              <a:t>Handle missing values using feature-appropriate rules.</a:t>
            </a:r>
          </a:p>
          <a:p>
            <a:pPr>
              <a:spcAft>
                <a:spcPts val="1200"/>
              </a:spcAft>
              <a:defRPr sz="2000"/>
            </a:pPr>
            <a:r>
              <a:t>Detect extreme/outlier observations and document treatment.</a:t>
            </a:r>
          </a:p>
          <a:p>
            <a:pPr>
              <a:spcAft>
                <a:spcPts val="1200"/>
              </a:spcAft>
              <a:defRPr sz="2000"/>
            </a:pPr>
            <a:r>
              <a:t>Encode categorical variables for machine learning.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Study the distribution of property prices.</a:t>
            </a:r>
          </a:p>
          <a:p>
            <a:pPr>
              <a:spcAft>
                <a:spcPts val="1200"/>
              </a:spcAft>
              <a:defRPr sz="2000"/>
            </a:pPr>
            <a:r>
              <a:t>Compare price with property area and BHK.</a:t>
            </a:r>
          </a:p>
          <a:p>
            <a:pPr>
              <a:spcAft>
                <a:spcPts val="1200"/>
              </a:spcAft>
              <a:defRPr sz="2000"/>
            </a:pPr>
            <a:r>
              <a:t>Analyze differences between Gurgaon sectors/localities.</a:t>
            </a:r>
          </a:p>
          <a:p>
            <a:pPr>
              <a:spcAft>
                <a:spcPts val="1200"/>
              </a:spcAft>
              <a:defRPr sz="2000"/>
            </a:pPr>
            <a:r>
              <a:t>Examine correlations among numerical variables.</a:t>
            </a:r>
          </a:p>
          <a:p>
            <a:pPr>
              <a:spcAft>
                <a:spcPts val="1200"/>
              </a:spcAft>
              <a:defRPr sz="2000"/>
            </a:pPr>
            <a:r>
              <a:t>Use boxplots/scatterplots/histograms to identify skew and outliers.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Regression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Linear Regression — interpretable baseline.</a:t>
            </a:r>
          </a:p>
          <a:p>
            <a:pPr>
              <a:spcAft>
                <a:spcPts val="1200"/>
              </a:spcAft>
              <a:defRPr sz="2000"/>
            </a:pPr>
            <a:r>
              <a:t>Decision Tree Regression — captures nonlinear relationships.</a:t>
            </a:r>
          </a:p>
          <a:p>
            <a:pPr>
              <a:spcAft>
                <a:spcPts val="1200"/>
              </a:spcAft>
              <a:defRPr sz="2000"/>
            </a:pPr>
            <a:r>
              <a:t>Random Forest Regression — ensemble of trees for stronger nonlinear modeling.</a:t>
            </a:r>
          </a:p>
          <a:p>
            <a:pPr>
              <a:spcAft>
                <a:spcPts val="1200"/>
              </a:spcAft>
              <a:defRPr sz="2000"/>
            </a:pPr>
            <a:r>
              <a:t>Optional extension: Gradient Boosting/XGBoost if permitted.</a:t>
            </a:r>
          </a:p>
          <a:p>
            <a:pPr>
              <a:spcAft>
                <a:spcPts val="1200"/>
              </a:spcAft>
              <a:defRPr sz="2000"/>
            </a:pPr>
            <a:r>
              <a:t>Use cross-validation and hyperparameter tuning where appropriate.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MAE: average absolute prediction error.</a:t>
            </a:r>
          </a:p>
          <a:p>
            <a:pPr>
              <a:spcAft>
                <a:spcPts val="1200"/>
              </a:spcAft>
              <a:defRPr sz="2000"/>
            </a:pPr>
            <a:r>
              <a:t>MSE: average squared error, emphasizing larger mistakes.</a:t>
            </a:r>
          </a:p>
          <a:p>
            <a:pPr>
              <a:spcAft>
                <a:spcPts val="1200"/>
              </a:spcAft>
              <a:defRPr sz="2000"/>
            </a:pPr>
            <a:r>
              <a:t>RMSE: square root of MSE and expressed in target units.</a:t>
            </a:r>
          </a:p>
          <a:p>
            <a:pPr>
              <a:spcAft>
                <a:spcPts val="1200"/>
              </a:spcAft>
              <a:defRPr sz="2000"/>
            </a:pPr>
            <a:r>
              <a:t>R²: proportion of target variance explained by the model.</a:t>
            </a:r>
          </a:p>
          <a:p>
            <a:pPr>
              <a:spcAft>
                <a:spcPts val="1200"/>
              </a:spcAft>
              <a:defRPr sz="2000"/>
            </a:pPr>
            <a:r>
              <a:t>Select the final model using test/validation performance rather than training score alone.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Results &amp; 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Final results should be filled from the executed notebook.</a:t>
            </a:r>
          </a:p>
          <a:p>
            <a:pPr>
              <a:spcAft>
                <a:spcPts val="1200"/>
              </a:spcAft>
              <a:defRPr sz="2000"/>
            </a:pPr>
            <a:r>
              <a:t>Recommended comparison table: Model | MAE | RMSE | R².</a:t>
            </a:r>
          </a:p>
          <a:p>
            <a:pPr>
              <a:spcAft>
                <a:spcPts val="1200"/>
              </a:spcAft>
              <a:defRPr sz="2000"/>
            </a:pPr>
            <a:r>
              <a:t>Compare both accuracy and stability, not only one metric.</a:t>
            </a:r>
          </a:p>
          <a:p>
            <a:pPr>
              <a:spcAft>
                <a:spcPts val="1200"/>
              </a:spcAft>
              <a:defRPr sz="2000"/>
            </a:pPr>
            <a:r>
              <a:t>Avoid claiming model accuracy before the actual dataset has been processed.</a:t>
            </a:r>
          </a:p>
          <a:p>
            <a:pPr>
              <a:spcAft>
                <a:spcPts val="1200"/>
              </a:spcAft>
              <a:defRPr sz="2000"/>
            </a:pPr>
            <a:r>
              <a:t>The best model is the one that provides the strongest generalization for the project objective.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Location and property size are expected to be important predictors, subject to confirmation from the dataset.</a:t>
            </a:r>
          </a:p>
          <a:p>
            <a:pPr>
              <a:spcAft>
                <a:spcPts val="1200"/>
              </a:spcAft>
              <a:defRPr sz="2000"/>
            </a:pPr>
            <a:r>
              <a:t>Real-estate price distributions may be skewed and contain high-value outliers.</a:t>
            </a:r>
          </a:p>
          <a:p>
            <a:pPr>
              <a:spcAft>
                <a:spcPts val="1200"/>
              </a:spcAft>
              <a:defRPr sz="2000"/>
            </a:pPr>
            <a:r>
              <a:t>Nonlinear models can capture interactions that a simple linear model may miss.</a:t>
            </a:r>
          </a:p>
          <a:p>
            <a:pPr>
              <a:spcAft>
                <a:spcPts val="1200"/>
              </a:spcAft>
              <a:defRPr sz="2000"/>
            </a:pPr>
            <a:r>
              <a:t>Data quality and consistent location/property labels are critical to reliable predictions.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Limitations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Listing price may differ from actual transaction price.</a:t>
            </a:r>
          </a:p>
          <a:p>
            <a:pPr>
              <a:spcAft>
                <a:spcPts val="1200"/>
              </a:spcAft>
              <a:defRPr sz="2000"/>
            </a:pPr>
            <a:r>
              <a:t>Historical data may not reflect current market conditions.</a:t>
            </a:r>
          </a:p>
          <a:p>
            <a:pPr>
              <a:spcAft>
                <a:spcPts val="1200"/>
              </a:spcAft>
              <a:defRPr sz="2000"/>
            </a:pPr>
            <a:r>
              <a:t>Some property attributes can be missing or inconsistently recorded.</a:t>
            </a:r>
          </a:p>
          <a:p>
            <a:pPr>
              <a:spcAft>
                <a:spcPts val="1200"/>
              </a:spcAft>
              <a:defRPr sz="2000"/>
            </a:pPr>
            <a:r>
              <a:t>Future work: geospatial features, market-time features, boosting models and model explainability.</a:t>
            </a:r>
          </a:p>
          <a:p>
            <a:pPr>
              <a:spcAft>
                <a:spcPts val="1200"/>
              </a:spcAft>
              <a:defRPr sz="2000"/>
            </a:pPr>
            <a:r>
              <a:t>Future deployment: a simple web interface for entering property details and obtaining an estimate.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 complete regression pipeline can support data-driven Gurgaon property price estimation.</a:t>
            </a:r>
          </a:p>
          <a:p>
            <a:pPr>
              <a:spcAft>
                <a:spcPts val="1200"/>
              </a:spcAft>
              <a:defRPr sz="2000"/>
            </a:pPr>
            <a:r>
              <a:t>The project covers preprocessing, EDA, feature engineering, model training and evaluation.</a:t>
            </a:r>
          </a:p>
          <a:p>
            <a:pPr>
              <a:spcAft>
                <a:spcPts val="1200"/>
              </a:spcAft>
              <a:defRPr sz="2000"/>
            </a:pPr>
            <a:r>
              <a:t>Final submission should include executed metrics, plots, notebook/code, README and the selected dataset/source information.</a:t>
            </a:r>
          </a:p>
          <a:p>
            <a:pPr>
              <a:spcAft>
                <a:spcPts val="1200"/>
              </a:spcAft>
              <a:defRPr sz="2000"/>
            </a:pPr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